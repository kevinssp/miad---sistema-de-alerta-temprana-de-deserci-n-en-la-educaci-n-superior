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Andes  ·  Ingeniería Industrial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 Grado · Segundo Semestre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Deserción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Deserción en Educación Superior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28016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 Ministerio de Educación Nacional (MEN)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 SPADIES · DANE · ICFES · ICETEX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con:  PND 2022–2026  ·  ODS 4 y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217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D.C. · 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914400"/>
            <a:ext cx="1325880" cy="132588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914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2064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Snaider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Sanchez Prieto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31152" y="914400"/>
            <a:ext cx="1325880" cy="132588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914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48272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Alberto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48272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Gómez Vigoya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58784" y="914400"/>
            <a:ext cx="1325880" cy="132588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784" y="914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75904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Johana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75904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Peña Pico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186416" y="914400"/>
            <a:ext cx="1325880" cy="132588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86416" y="914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003536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Lorena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03536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Porras Ortiz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Iniciales sustituibles por fotografías reales del equipo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20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Fachada  vs.  Prototipo Implementado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12080" y="3703320"/>
            <a:ext cx="31089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 · TAPA PROYECTO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Bosquejo de pantallas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semáforo de alertas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470916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0680" y="4709160"/>
            <a:ext cx="2834640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507492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5074920"/>
            <a:ext cx="640080" cy="64008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507492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5779008"/>
            <a:ext cx="265176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8200" y="3703320"/>
            <a:ext cx="3108960" cy="246888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· STREAMLIT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XGBoost + SHAP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tablero Insights 360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86800" y="470916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4709160"/>
            <a:ext cx="2834640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5029200"/>
            <a:ext cx="7772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46920" y="5029200"/>
            <a:ext cx="777240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5029200"/>
            <a:ext cx="7772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78240" y="5577840"/>
            <a:ext cx="2651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9680" y="5980176"/>
            <a:ext cx="274320" cy="1005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5829300"/>
            <a:ext cx="274320" cy="2514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92640" y="5678424"/>
            <a:ext cx="27432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04120" y="5779008"/>
            <a:ext cx="27432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0" y="5904738"/>
            <a:ext cx="274320" cy="17602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27080" y="5955030"/>
            <a:ext cx="274320" cy="12573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¿quién, qué y cómo lo medimos?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Esquematización del caso (Parte 1) · Carta del Proyecto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77295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deserción acumulada en educación superior en Colombia supera el 45% (SPADIES, 2025), comprometiendo capital humano y eficiencia del gasto público. El PND 2022–2026 plantea sistemas de alertas tempranas, pero no existe una herramienta analítica que integre datos socioeconómicos y académicos y explique sus predicciones.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65760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803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 usa?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Ministerio de Educación Nacional (MEN)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 de Bienestar Universitario de las 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de Planeación / Permanencia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· Subdirección de Desarrollo Sectorial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 datos: DANE e ICFES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2697480"/>
            <a:ext cx="365760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272" y="28803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2880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62272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necesitan?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62272" y="37033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riesgo individual (bajo · medio · alto)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cohortes completas vía CSV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la decisión por estudiante (SHAP)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con filtros regionales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&lt; 5 s y operación sin programar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2697480"/>
            <a:ext cx="365760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28803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2880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84464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medimos?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84464" y="37033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Negocio: reducción ≥ 5 % deserción semestral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Adopción: 100 % de las 21 IES piloto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AUC ≥ 0.85 · F1 ≥ 0.80 (clase minoritaria)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datos: completitud &gt; 95 %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usuario ≥ 85 %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SAT-DE en una mirada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que convierten datos oficiales en decisiones accionables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474720" cy="32918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oficiales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SPADIES · DANE · ICFES · ICETEX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Académicas (rendimiento, Saber 11)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Socioeconómicas (estrato, ICETEX, becas)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 y regionales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campos por estudiante; lote o individual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3474720" cy="32918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68880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4924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(ensamble) + SHAP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desbalance (scale_pos_weight)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al ruido administrativo histórico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probabilidad (no solo sí/no)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las 5 variables que más pesaron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3474720" cy="3291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8972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· Semáforo Rojo / Amarillo / Verde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individual con explicación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de cohortes (CSV)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 360 por regiones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intervención focalizada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3977640" y="3657600"/>
            <a:ext cx="274320" cy="365760"/>
          </a:xfrm>
          <a:prstGeom prst="rtTriangl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7818120" y="3657600"/>
            <a:ext cx="274320" cy="365760"/>
          </a:xfrm>
          <a:prstGeom prst="rtTriangl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de predictivo (qué pasará) a prescriptivo (qué hacer): cada alerta es accionable para los Directores de Bienestar.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Predicción individual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Score 0–1, semáforo y top-5 factores (SHAP)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guiado · 21 variables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4663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109728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60604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9008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60604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99008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74720"/>
            <a:ext cx="4663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74720"/>
            <a:ext cx="109728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Socioeconómico (estrato · ICETEX · becas)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1596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393192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431596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00600"/>
            <a:ext cx="4663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800600"/>
            <a:ext cx="109728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873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 (Saber 11 · promedio)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" y="525780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64184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5257800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5641848"/>
            <a:ext cx="2103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554480"/>
            <a:ext cx="5943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16276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97840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deserción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377440"/>
            <a:ext cx="5577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377440"/>
            <a:ext cx="4016045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34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factores (SHAP)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académico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3291840"/>
            <a:ext cx="21945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3291840"/>
            <a:ext cx="2048256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98480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reprobadas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12480" y="3749040"/>
            <a:ext cx="21945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3749040"/>
            <a:ext cx="160934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98480" y="3703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 socioeconómico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4206240"/>
            <a:ext cx="21945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0" y="4206240"/>
            <a:ext cx="10972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98480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0" y="4617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ICETEX / beca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4663440"/>
            <a:ext cx="21945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4663440"/>
            <a:ext cx="7315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0" y="4617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4360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Saber 11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5120640"/>
            <a:ext cx="21945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0" y="5120640"/>
            <a:ext cx="585216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98480" y="5074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60720" y="5623560"/>
            <a:ext cx="59436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5623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tutoría académica, revisar carga de materias y validar apoyo ICETEX vigente.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Carga masiva e Insights 360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2 y 3 — De la cohorte completa al análisis regionalizado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6928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CARGA MASIVA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por lote (CSV)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2344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123444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2560320"/>
            <a:ext cx="12344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560320"/>
            <a:ext cx="1234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0320"/>
            <a:ext cx="12344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560320"/>
            <a:ext cx="1234440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9184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560320"/>
            <a:ext cx="12344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560320"/>
            <a:ext cx="12344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descargables en CSV con score y riesgo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2336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E-00128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E-04302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E-01055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E-09711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40080" y="57150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715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Descargar CSV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1554480"/>
            <a:ext cx="5303520" cy="4663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0" y="1691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1691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INSIGHTS 360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cohorte por región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6766560" y="2606040"/>
            <a:ext cx="1828800" cy="1828800"/>
          </a:xfrm>
          <a:prstGeom prst="ellipse">
            <a:avLst/>
          </a:prstGeom>
          <a:solidFill>
            <a:srgbClr val="16A34A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66560" y="2606040"/>
            <a:ext cx="1828800" cy="1828800"/>
          </a:xfrm>
          <a:prstGeom prst="pie">
            <a:avLst/>
          </a:prstGeom>
          <a:solidFill>
            <a:srgbClr val="EAB308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3017520"/>
            <a:ext cx="1005840" cy="10058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3017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77824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por región (cohorte)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778240" y="2926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Orinoquía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921240" y="2962656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21240" y="2962656"/>
            <a:ext cx="630936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338560" y="29260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778240" y="3172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921240" y="3209544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921240" y="3209544"/>
            <a:ext cx="41148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338560" y="31729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778240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Caribe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921240" y="3456432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921240" y="3456432"/>
            <a:ext cx="576072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338560" y="3419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778240" y="3666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Pacífico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921240" y="3703320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921240" y="3703320"/>
            <a:ext cx="521208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338560" y="36667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87782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Andina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9921240" y="3950208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921240" y="3950208"/>
            <a:ext cx="384048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1338560" y="3913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877824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Amazonía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9921240" y="4197096"/>
            <a:ext cx="137160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921240" y="4197096"/>
            <a:ext cx="6858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1338560" y="4160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pestañas · Distribución · Demográfico · Académico · Detalle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583680" y="4983480"/>
            <a:ext cx="4937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394966" y="5353137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284503" y="519669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151940" y="582005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661052" y="5795584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095983" y="5390101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882596" y="5863941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349521" y="5983568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514751" y="5262234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292758" y="569638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010130" y="5936326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705394" y="524246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921746" y="584775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939519" y="5298526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887025" y="5169239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867524" y="5816655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203608" y="527461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949552" y="5956606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085387" y="5788057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1117218" y="5321855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1004487" y="541215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628550" y="5580251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1204536" y="5570161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664669" y="5134574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299767" y="533547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389981" y="598085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8769593" y="5282071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48675" y="5862449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866235" y="5481730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642417" y="5593757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663941" y="5615677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526641" y="552217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981663" y="543368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755678" y="5835413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9303398" y="570304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9384135" y="5646789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554277" y="514457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9660266" y="546570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343313" y="5740785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499387" y="596012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756739" y="547555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y limitaciones del prototipo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las metas del anteproyecto y resultados de pruebas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411480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del anteproyecto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del prototipo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 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≥ 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 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≥ 0.80 (clase minoritaria)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 para 11.500 filas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Completitud &gt; 95 %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columnas en 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por instancia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factores por estudiante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03320"/>
            <a:ext cx="5669280" cy="2560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8404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5303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0.89 supera la meta del anteproyecto (≥ 0.85)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 traducido a semáforo (Rojo · Amarillo · Verde)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factores por estudiante para evitar caja negra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Tolerante a categorías desconocidas (handle_unknown)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semillas fijas, requirements y notebook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3703320"/>
            <a:ext cx="5303520" cy="2560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8404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3680" y="420624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0.79 ≈ 0.80 (rozando la meta): seguir optimizando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sintetizados para piloto; falta integración SPADIES en vivo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auth ni auditoría de usuarios (prototipo)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juicio del consejero ni habilita sanciones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los 21 campos del esquema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 para el MEN, las IES piloto y los estudiantes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5 %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anteproyecto: bajar la deserción semestral en al menos 5 puntos en las IES piloto.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691640"/>
            <a:ext cx="109728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del gasto público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recursos del MEN al retener estudiantes con becas y subsidios ya invertidos.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109728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explicable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responde el porqué de cada alerta, eliminando la percepción de caja negra.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109728" cy="1417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21 IES → sistema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replicable: del piloto de 21 IES al sistema de educación superior completo.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33756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3337560"/>
            <a:ext cx="109728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con PND y ODS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el PND 2022–2026 y los ODS 4 (educación de calidad) y 10 (reducción de desigualdades).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337560"/>
            <a:ext cx="36576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337560"/>
            <a:ext cx="109728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regional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focalizar acciones por región (Orinoquía, Caribe, Pacífico, etc.) y por estrato.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277295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20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3017520" y="5120640"/>
            <a:ext cx="8534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del prototipo, frente a la meta de 0.85 del anteproyecto. Capacidad demostrada para apoyar la meta nacional de reducir la deserción y cerrar la brecha del 45 % reportada por SPADIES (2025).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riesgos y condiciones de adopción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AMEF (NPR) y stakeholders definidos en el anteproyecto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· RECURSOS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esperada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3337560" cy="914400"/>
        </p:xfrm>
        <a:graphic>
          <a:graphicData uri="http://schemas.openxmlformats.org/drawingml/2006/table">
            <a:tbl>
              <a:tblPr/>
              <a:tblGrid>
                <a:gridCol w="2169414"/>
                <a:gridCol w="116814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Proyecto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Científico de Datos 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Ingeniero de Datos (ETL)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BI / Visualización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AWS/Azure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USD 18 / 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/ Tableau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Lic. institucional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Reentrenamiento semestral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jornadas / semestre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25112" y="1600200"/>
            <a:ext cx="370332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07992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· AMEF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07992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con mitigación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07992" y="2651760"/>
            <a:ext cx="33375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2651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240 · Crítico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07992" y="29809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integración SPADIES/ICFES por llaves inconsistentes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7992" y="3383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PoC de integración (sem. 2) + llaves subrogadas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07992" y="3794760"/>
            <a:ext cx="3337560" cy="2926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99432" y="3794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180 · Medio-Alto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7992" y="41239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por cambios en políticas de becas o socioeconómicas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07992" y="4526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Pipeline MLOps con PSI &gt; 0.2 → reentrenamiento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07992" y="4937760"/>
            <a:ext cx="333756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99432" y="4937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120 · Medio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07992" y="52669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/ percepción de caja negra en las 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07992" y="5669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SHAP por estudiante + talleres de co-diseño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193024" y="1600200"/>
            <a:ext cx="370332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75904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75904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375904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despliegue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467344" y="2651760"/>
            <a:ext cx="3246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MEN · Subdirección de Desarrollo Sectorial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con SPADIES, DANE e ICFES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IES piloto con Director de Bienestar designado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MLOps (MLflow / Airflow) en cloud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y Handover técnico al equipo 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NPS / CSAT a stakeholders ≥ 85 %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Ley 1581 de 2012 (habeas data)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hacia producción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fases del anteproyecto (CRISP-DM · 16 semanas) + escalamiento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0911535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8354" y="3703320"/>
            <a:ext cx="365760" cy="365760"/>
          </a:xfrm>
          <a:prstGeom prst="ellipse">
            <a:avLst/>
          </a:prstGeom>
          <a:solidFill>
            <a:srgbClr val="16A3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907987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31720"/>
            <a:ext cx="1907987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468880"/>
            <a:ext cx="1725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278892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del Proyecto, alcance y validación con MEN.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333756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/ Sponsor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661" y="3703320"/>
            <a:ext cx="365760" cy="36576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9547" y="201168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59547" y="2331720"/>
            <a:ext cx="1907987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59547" y="2331720"/>
            <a:ext cx="1907987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9275" y="2468880"/>
            <a:ext cx="1725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9275" y="278892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SPADIES/DANE/ICFES, perfilamiento y línea base.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9275" y="333756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de Datos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12968" y="3703320"/>
            <a:ext cx="365760" cy="365760"/>
          </a:xfrm>
          <a:prstGeom prst="ellipse">
            <a:avLst/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1854" y="201168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6-9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41854" y="2331720"/>
            <a:ext cx="1907987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1854" y="2331720"/>
            <a:ext cx="1907987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1582" y="2468880"/>
            <a:ext cx="1725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1582" y="278892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RF/XGBoost, SHAP y validación.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1582" y="333756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de Datos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95275" y="3703320"/>
            <a:ext cx="365760" cy="36576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161" y="201168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10-14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24161" y="2331720"/>
            <a:ext cx="1907987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4161" y="2331720"/>
            <a:ext cx="1907987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3889" y="2468880"/>
            <a:ext cx="1725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33889" y="278892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integración productiva y capacitación.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33889" y="333756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BI / Líder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277582" y="3703320"/>
            <a:ext cx="365760" cy="3657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6468" y="201168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15-16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506468" y="2331720"/>
            <a:ext cx="1907987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6468" y="2331720"/>
            <a:ext cx="1907987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16196" y="2468880"/>
            <a:ext cx="1725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16196" y="278892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KPIs de adopción y cierre formal.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16196" y="333756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297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las 16 semanas · Escalamiento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466344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final en servidores del cliente (MEN / IES) con pruebas de estrés.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para pasar de 21 IES piloto al sistema de educación superior completo.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semestral con cortes académicos; monitoreo PSI + F1.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NPS/CSAT y documentación de Lecciones Aprendidas.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acordar IES piloto, acceso a datos históricos SPADIES (3 años) y designar al responsable institucional del modelo.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Modelo de Deserción en Educación Superior · Anteproyecto Grado 2025-2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194560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SAT-DE · Sistema de Alerta Temprana de Deserción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Deserción en Educación Superior · Anteproyecto Grado · 2025-2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Sanchez · Jorge Gómez · Carol Peña · Elizabeth Porras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Andes  ·  Facultad de Ingeniería  ·  Ingeniería Industrial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· Manual de Usuario · Anexo Técnico · Anteproyecto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de los Andes · Ingeniería Industrial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SAT-DE · Modelo de Deserción en Educación Superior</dc:title>
  <dc:subject>PptxGenJS Presentation</dc:subject>
  <dc:creator>Sanchez · Gómez · Peña · Porras</dc:creator>
  <cp:lastModifiedBy>Sanchez · Gómez · Peña · Porras</cp:lastModifiedBy>
  <cp:revision>1</cp:revision>
  <dcterms:created xsi:type="dcterms:W3CDTF">2026-05-19T03:20:12Z</dcterms:created>
  <dcterms:modified xsi:type="dcterms:W3CDTF">2026-05-19T03:20:12Z</dcterms:modified>
</cp:coreProperties>
</file>